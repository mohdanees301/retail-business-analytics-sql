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5" r:id="rId24"/>
    <p:sldId id="286" r:id="rId25"/>
    <p:sldId id="283" r:id="rId26"/>
    <p:sldId id="282" r:id="rId27"/>
    <p:sldId id="279" r:id="rId28"/>
    <p:sldId id="280" r:id="rId29"/>
    <p:sldId id="284" r:id="rId30"/>
    <p:sldId id="281" r:id="rId31"/>
    <p:sldId id="29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5" d="100"/>
          <a:sy n="45" d="100"/>
        </p:scale>
        <p:origin x="149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tika maity" userId="828310bd016f3a07" providerId="LiveId" clId="{5ABEB0C5-DA3F-4DEF-989E-398DB7726EB2}"/>
    <pc:docChg chg="addSld delSld modSld">
      <pc:chgData name="rittika maity" userId="828310bd016f3a07" providerId="LiveId" clId="{5ABEB0C5-DA3F-4DEF-989E-398DB7726EB2}" dt="2026-07-12T15:35:14.446" v="23" actId="47"/>
      <pc:docMkLst>
        <pc:docMk/>
      </pc:docMkLst>
      <pc:sldChg chg="del">
        <pc:chgData name="rittika maity" userId="828310bd016f3a07" providerId="LiveId" clId="{5ABEB0C5-DA3F-4DEF-989E-398DB7726EB2}" dt="2026-07-12T15:34:31.340" v="19" actId="47"/>
        <pc:sldMkLst>
          <pc:docMk/>
          <pc:sldMk cId="1220457460" sldId="257"/>
        </pc:sldMkLst>
      </pc:sldChg>
      <pc:sldChg chg="del">
        <pc:chgData name="rittika maity" userId="828310bd016f3a07" providerId="LiveId" clId="{5ABEB0C5-DA3F-4DEF-989E-398DB7726EB2}" dt="2026-07-12T15:34:33.662" v="20" actId="47"/>
        <pc:sldMkLst>
          <pc:docMk/>
          <pc:sldMk cId="3669770890" sldId="258"/>
        </pc:sldMkLst>
      </pc:sldChg>
      <pc:sldChg chg="del">
        <pc:chgData name="rittika maity" userId="828310bd016f3a07" providerId="LiveId" clId="{5ABEB0C5-DA3F-4DEF-989E-398DB7726EB2}" dt="2026-07-12T15:34:43.012" v="21" actId="47"/>
        <pc:sldMkLst>
          <pc:docMk/>
          <pc:sldMk cId="3921455051" sldId="259"/>
        </pc:sldMkLst>
      </pc:sldChg>
      <pc:sldChg chg="del">
        <pc:chgData name="rittika maity" userId="828310bd016f3a07" providerId="LiveId" clId="{5ABEB0C5-DA3F-4DEF-989E-398DB7726EB2}" dt="2026-07-12T15:34:57.979" v="22" actId="47"/>
        <pc:sldMkLst>
          <pc:docMk/>
          <pc:sldMk cId="2580765150" sldId="260"/>
        </pc:sldMkLst>
      </pc:sldChg>
      <pc:sldChg chg="del">
        <pc:chgData name="rittika maity" userId="828310bd016f3a07" providerId="LiveId" clId="{5ABEB0C5-DA3F-4DEF-989E-398DB7726EB2}" dt="2026-07-12T15:32:08.963" v="18" actId="47"/>
        <pc:sldMkLst>
          <pc:docMk/>
          <pc:sldMk cId="2784850591" sldId="261"/>
        </pc:sldMkLst>
      </pc:sldChg>
      <pc:sldChg chg="del">
        <pc:chgData name="rittika maity" userId="828310bd016f3a07" providerId="LiveId" clId="{5ABEB0C5-DA3F-4DEF-989E-398DB7726EB2}" dt="2026-07-12T15:35:14.446" v="23" actId="47"/>
        <pc:sldMkLst>
          <pc:docMk/>
          <pc:sldMk cId="4130502803" sldId="262"/>
        </pc:sldMkLst>
      </pc:sldChg>
      <pc:sldChg chg="del">
        <pc:chgData name="rittika maity" userId="828310bd016f3a07" providerId="LiveId" clId="{5ABEB0C5-DA3F-4DEF-989E-398DB7726EB2}" dt="2026-07-12T15:31:49.529" v="17" actId="47"/>
        <pc:sldMkLst>
          <pc:docMk/>
          <pc:sldMk cId="1316692040" sldId="265"/>
        </pc:sldMkLst>
      </pc:sldChg>
      <pc:sldChg chg="addSp modSp new mod">
        <pc:chgData name="rittika maity" userId="828310bd016f3a07" providerId="LiveId" clId="{5ABEB0C5-DA3F-4DEF-989E-398DB7726EB2}" dt="2026-07-12T14:26:45.510" v="1" actId="931"/>
        <pc:sldMkLst>
          <pc:docMk/>
          <pc:sldMk cId="1986655173" sldId="287"/>
        </pc:sldMkLst>
        <pc:picChg chg="add mod">
          <ac:chgData name="rittika maity" userId="828310bd016f3a07" providerId="LiveId" clId="{5ABEB0C5-DA3F-4DEF-989E-398DB7726EB2}" dt="2026-07-12T14:26:45.510" v="1" actId="931"/>
          <ac:picMkLst>
            <pc:docMk/>
            <pc:sldMk cId="1986655173" sldId="287"/>
            <ac:picMk id="3" creationId="{362A535A-0EE9-FE55-678A-7AF382C4F125}"/>
          </ac:picMkLst>
        </pc:picChg>
      </pc:sldChg>
      <pc:sldChg chg="addSp modSp new mod">
        <pc:chgData name="rittika maity" userId="828310bd016f3a07" providerId="LiveId" clId="{5ABEB0C5-DA3F-4DEF-989E-398DB7726EB2}" dt="2026-07-12T14:30:14.029" v="4" actId="1076"/>
        <pc:sldMkLst>
          <pc:docMk/>
          <pc:sldMk cId="496135011" sldId="288"/>
        </pc:sldMkLst>
        <pc:picChg chg="add mod">
          <ac:chgData name="rittika maity" userId="828310bd016f3a07" providerId="LiveId" clId="{5ABEB0C5-DA3F-4DEF-989E-398DB7726EB2}" dt="2026-07-12T14:30:14.029" v="4" actId="1076"/>
          <ac:picMkLst>
            <pc:docMk/>
            <pc:sldMk cId="496135011" sldId="288"/>
            <ac:picMk id="3" creationId="{D32A2A6C-F551-EFB7-D4E2-3C57CF7BA5D7}"/>
          </ac:picMkLst>
        </pc:picChg>
      </pc:sldChg>
      <pc:sldChg chg="addSp modSp new mod">
        <pc:chgData name="rittika maity" userId="828310bd016f3a07" providerId="LiveId" clId="{5ABEB0C5-DA3F-4DEF-989E-398DB7726EB2}" dt="2026-07-12T14:34:43.866" v="6" actId="931"/>
        <pc:sldMkLst>
          <pc:docMk/>
          <pc:sldMk cId="2495884908" sldId="289"/>
        </pc:sldMkLst>
        <pc:picChg chg="add mod">
          <ac:chgData name="rittika maity" userId="828310bd016f3a07" providerId="LiveId" clId="{5ABEB0C5-DA3F-4DEF-989E-398DB7726EB2}" dt="2026-07-12T14:34:43.866" v="6" actId="931"/>
          <ac:picMkLst>
            <pc:docMk/>
            <pc:sldMk cId="2495884908" sldId="289"/>
            <ac:picMk id="3" creationId="{6D2E0A64-F0A0-43C1-3214-D700A3F1EAC2}"/>
          </ac:picMkLst>
        </pc:picChg>
      </pc:sldChg>
      <pc:sldChg chg="addSp modSp new mod">
        <pc:chgData name="rittika maity" userId="828310bd016f3a07" providerId="LiveId" clId="{5ABEB0C5-DA3F-4DEF-989E-398DB7726EB2}" dt="2026-07-12T14:37:50.555" v="10" actId="14100"/>
        <pc:sldMkLst>
          <pc:docMk/>
          <pc:sldMk cId="2728865957" sldId="290"/>
        </pc:sldMkLst>
        <pc:picChg chg="add mod">
          <ac:chgData name="rittika maity" userId="828310bd016f3a07" providerId="LiveId" clId="{5ABEB0C5-DA3F-4DEF-989E-398DB7726EB2}" dt="2026-07-12T14:37:50.555" v="10" actId="14100"/>
          <ac:picMkLst>
            <pc:docMk/>
            <pc:sldMk cId="2728865957" sldId="290"/>
            <ac:picMk id="3" creationId="{D85927DA-A36B-CBF0-CA4C-C92E63281269}"/>
          </ac:picMkLst>
        </pc:picChg>
      </pc:sldChg>
      <pc:sldChg chg="addSp modSp new mod">
        <pc:chgData name="rittika maity" userId="828310bd016f3a07" providerId="LiveId" clId="{5ABEB0C5-DA3F-4DEF-989E-398DB7726EB2}" dt="2026-07-12T15:13:46.494" v="12" actId="931"/>
        <pc:sldMkLst>
          <pc:docMk/>
          <pc:sldMk cId="2866968754" sldId="291"/>
        </pc:sldMkLst>
        <pc:picChg chg="add mod">
          <ac:chgData name="rittika maity" userId="828310bd016f3a07" providerId="LiveId" clId="{5ABEB0C5-DA3F-4DEF-989E-398DB7726EB2}" dt="2026-07-12T15:13:46.494" v="12" actId="931"/>
          <ac:picMkLst>
            <pc:docMk/>
            <pc:sldMk cId="2866968754" sldId="291"/>
            <ac:picMk id="3" creationId="{2DAE2DC7-5AEB-81E5-519C-A5422E07E0C4}"/>
          </ac:picMkLst>
        </pc:picChg>
      </pc:sldChg>
      <pc:sldChg chg="addSp modSp new mod">
        <pc:chgData name="rittika maity" userId="828310bd016f3a07" providerId="LiveId" clId="{5ABEB0C5-DA3F-4DEF-989E-398DB7726EB2}" dt="2026-07-12T15:17:43.503" v="14" actId="931"/>
        <pc:sldMkLst>
          <pc:docMk/>
          <pc:sldMk cId="1126438198" sldId="292"/>
        </pc:sldMkLst>
        <pc:picChg chg="add mod">
          <ac:chgData name="rittika maity" userId="828310bd016f3a07" providerId="LiveId" clId="{5ABEB0C5-DA3F-4DEF-989E-398DB7726EB2}" dt="2026-07-12T15:17:43.503" v="14" actId="931"/>
          <ac:picMkLst>
            <pc:docMk/>
            <pc:sldMk cId="1126438198" sldId="292"/>
            <ac:picMk id="3" creationId="{F0FB88B5-27BA-245F-17AB-758FCD2C9E2E}"/>
          </ac:picMkLst>
        </pc:picChg>
      </pc:sldChg>
      <pc:sldChg chg="addSp modSp new mod">
        <pc:chgData name="rittika maity" userId="828310bd016f3a07" providerId="LiveId" clId="{5ABEB0C5-DA3F-4DEF-989E-398DB7726EB2}" dt="2026-07-12T15:31:43.862" v="16" actId="931"/>
        <pc:sldMkLst>
          <pc:docMk/>
          <pc:sldMk cId="538515530" sldId="293"/>
        </pc:sldMkLst>
        <pc:picChg chg="add mod">
          <ac:chgData name="rittika maity" userId="828310bd016f3a07" providerId="LiveId" clId="{5ABEB0C5-DA3F-4DEF-989E-398DB7726EB2}" dt="2026-07-12T15:31:43.862" v="16" actId="931"/>
          <ac:picMkLst>
            <pc:docMk/>
            <pc:sldMk cId="538515530" sldId="293"/>
            <ac:picMk id="3" creationId="{EB15DCC6-1A1D-7270-7C0B-9DC2103409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38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315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169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992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29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750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157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121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489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5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570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2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37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48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311D7-855C-408C-86F5-94AEF6FBA0B4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0FE26CE-E2AD-4DC0-9725-DFAD29A1F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7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F28F-4378-7BDF-2103-782B8F84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743" y="12335"/>
            <a:ext cx="8915399" cy="1645192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  <a:sp3d extrusionH="57150">
              <a:bevelT w="38100" h="38100" prst="relaxedInset"/>
            </a:sp3d>
          </a:bodyPr>
          <a:lstStyle/>
          <a:p>
            <a:pPr algn="ctr"/>
            <a:r>
              <a:rPr lang="en-IN" b="1" i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Retail Business Analytics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1204-0635-30E8-1E27-48D0E1ED2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3771" y="1657529"/>
            <a:ext cx="10352315" cy="1342698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397E0-81DB-B485-9458-61616CEBA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7" y="0"/>
            <a:ext cx="1645192" cy="1645192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13F39359-B703-2C4F-4B22-FE9A3BCFC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338" y="9677"/>
            <a:ext cx="1312547" cy="131254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Graphic 10" descr="Shopping cart with solid fill">
            <a:extLst>
              <a:ext uri="{FF2B5EF4-FFF2-40B4-BE49-F238E27FC236}">
                <a16:creationId xmlns:a16="http://schemas.microsoft.com/office/drawing/2014/main" id="{45AA693D-139F-913A-9F80-49328A77BC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8536" y="9677"/>
            <a:ext cx="1436915" cy="1436915"/>
          </a:xfrm>
          <a:prstGeom prst="rect">
            <a:avLst/>
          </a:prstGeom>
        </p:spPr>
      </p:pic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9FAE8715-6905-8CBF-EEBB-A00D39EF5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711" y="1690958"/>
            <a:ext cx="1180712" cy="118071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A0BF1B-BB30-F700-E483-E388BA78D4F7}"/>
              </a:ext>
            </a:extLst>
          </p:cNvPr>
          <p:cNvSpPr/>
          <p:nvPr/>
        </p:nvSpPr>
        <p:spPr>
          <a:xfrm>
            <a:off x="1874871" y="1647054"/>
            <a:ext cx="2917371" cy="691554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OVERVIEW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B69CE-8B9F-EDEC-1B1F-A22496A2A639}"/>
              </a:ext>
            </a:extLst>
          </p:cNvPr>
          <p:cNvSpPr txBox="1"/>
          <p:nvPr/>
        </p:nvSpPr>
        <p:spPr>
          <a:xfrm>
            <a:off x="1895380" y="2065731"/>
            <a:ext cx="6852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This project focuses on solving real-world business problems in a retail environment using advanced SQL techniques. The goal  is to transform raw data into meaningful insights that support strategic decision-making and improve overall business performance.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E29E4F-E238-684B-9751-7774FB936327}"/>
              </a:ext>
            </a:extLst>
          </p:cNvPr>
          <p:cNvCxnSpPr/>
          <p:nvPr/>
        </p:nvCxnSpPr>
        <p:spPr>
          <a:xfrm>
            <a:off x="8704755" y="1693537"/>
            <a:ext cx="0" cy="134102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C12579-743E-0619-8A72-28D3A796F444}"/>
              </a:ext>
            </a:extLst>
          </p:cNvPr>
          <p:cNvSpPr txBox="1"/>
          <p:nvPr/>
        </p:nvSpPr>
        <p:spPr>
          <a:xfrm>
            <a:off x="9090622" y="1624097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&amp; Technologies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D869AB-7CDC-B3D9-5C92-07D849909938}"/>
              </a:ext>
            </a:extLst>
          </p:cNvPr>
          <p:cNvSpPr txBox="1"/>
          <p:nvPr/>
        </p:nvSpPr>
        <p:spPr>
          <a:xfrm>
            <a:off x="9424666" y="2217991"/>
            <a:ext cx="1945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85000"/>
                  </a:schemeClr>
                </a:solidFill>
              </a:rPr>
              <a:t>SQL</a:t>
            </a:r>
          </a:p>
          <a:p>
            <a:r>
              <a:rPr lang="en-IN" sz="2000" b="1" dirty="0">
                <a:solidFill>
                  <a:schemeClr val="bg1">
                    <a:lumMod val="85000"/>
                  </a:schemeClr>
                </a:solidFill>
              </a:rPr>
              <a:t>My SQL</a:t>
            </a:r>
          </a:p>
        </p:txBody>
      </p:sp>
      <p:pic>
        <p:nvPicPr>
          <p:cNvPr id="29" name="Graphic 28" descr="Database with solid fill">
            <a:extLst>
              <a:ext uri="{FF2B5EF4-FFF2-40B4-BE49-F238E27FC236}">
                <a16:creationId xmlns:a16="http://schemas.microsoft.com/office/drawing/2014/main" id="{ED099482-0FF6-6B0C-F1D9-61A5EF91A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7283" y="2215977"/>
            <a:ext cx="784249" cy="78424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23A54DB-77E3-06A1-A3D8-6F2DB6DAF7B9}"/>
              </a:ext>
            </a:extLst>
          </p:cNvPr>
          <p:cNvSpPr txBox="1"/>
          <p:nvPr/>
        </p:nvSpPr>
        <p:spPr>
          <a:xfrm>
            <a:off x="1874871" y="3243864"/>
            <a:ext cx="27733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DATASETS USED</a:t>
            </a:r>
          </a:p>
          <a:p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Sales_data</a:t>
            </a:r>
          </a:p>
          <a:p>
            <a:r>
              <a:rPr lang="en-IN" sz="1400" dirty="0"/>
              <a:t>Contains order details, sales, porfit, product information, etc.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Customer_details2</a:t>
            </a:r>
          </a:p>
          <a:p>
            <a:r>
              <a:rPr lang="en-IN" sz="1400" dirty="0"/>
              <a:t>Contains customer demographics, segment, city, region details, etc.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Business_operations</a:t>
            </a:r>
          </a:p>
          <a:p>
            <a:r>
              <a:rPr lang="en-IN" sz="1400" dirty="0"/>
              <a:t>Contains operational data like costs, payment and order status.</a:t>
            </a:r>
          </a:p>
          <a:p>
            <a:r>
              <a:rPr lang="en-IN" dirty="0"/>
              <a:t>        </a:t>
            </a:r>
          </a:p>
        </p:txBody>
      </p:sp>
      <p:pic>
        <p:nvPicPr>
          <p:cNvPr id="34" name="Graphic 33" descr="Database with solid fill">
            <a:extLst>
              <a:ext uri="{FF2B5EF4-FFF2-40B4-BE49-F238E27FC236}">
                <a16:creationId xmlns:a16="http://schemas.microsoft.com/office/drawing/2014/main" id="{7CE4CF97-1320-E06B-04DF-A5C4577C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0957" y="3033656"/>
            <a:ext cx="784249" cy="784249"/>
          </a:xfrm>
          <a:prstGeom prst="rect">
            <a:avLst/>
          </a:prstGeom>
        </p:spPr>
      </p:pic>
      <p:pic>
        <p:nvPicPr>
          <p:cNvPr id="36" name="Graphic 35" descr="Business Growth with solid fill">
            <a:extLst>
              <a:ext uri="{FF2B5EF4-FFF2-40B4-BE49-F238E27FC236}">
                <a16:creationId xmlns:a16="http://schemas.microsoft.com/office/drawing/2014/main" id="{69A4C192-F280-27EC-CBDE-5A0A70A1D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6771" y="4792008"/>
            <a:ext cx="631371" cy="631371"/>
          </a:xfrm>
          <a:prstGeom prst="rect">
            <a:avLst/>
          </a:prstGeom>
        </p:spPr>
      </p:pic>
      <p:pic>
        <p:nvPicPr>
          <p:cNvPr id="38" name="Graphic 37" descr="Shopping cart with solid fill">
            <a:extLst>
              <a:ext uri="{FF2B5EF4-FFF2-40B4-BE49-F238E27FC236}">
                <a16:creationId xmlns:a16="http://schemas.microsoft.com/office/drawing/2014/main" id="{1526D3D3-0459-482B-535E-B1DB916B0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26771" y="3831723"/>
            <a:ext cx="548100" cy="548100"/>
          </a:xfrm>
          <a:prstGeom prst="rect">
            <a:avLst/>
          </a:prstGeom>
        </p:spPr>
      </p:pic>
      <p:pic>
        <p:nvPicPr>
          <p:cNvPr id="40" name="Graphic 39" descr="Person with idea with solid fill">
            <a:extLst>
              <a:ext uri="{FF2B5EF4-FFF2-40B4-BE49-F238E27FC236}">
                <a16:creationId xmlns:a16="http://schemas.microsoft.com/office/drawing/2014/main" id="{1D89AC71-C13B-A857-8A9E-164F59E75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4009" y="5706753"/>
            <a:ext cx="631371" cy="631371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B55CEC-1427-BDAB-4DF1-F02B79C19D03}"/>
              </a:ext>
            </a:extLst>
          </p:cNvPr>
          <p:cNvCxnSpPr/>
          <p:nvPr/>
        </p:nvCxnSpPr>
        <p:spPr>
          <a:xfrm>
            <a:off x="4792242" y="3243864"/>
            <a:ext cx="0" cy="347262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EA65C91-C125-EAF3-A931-346BD27B1C5C}"/>
              </a:ext>
            </a:extLst>
          </p:cNvPr>
          <p:cNvSpPr txBox="1"/>
          <p:nvPr/>
        </p:nvSpPr>
        <p:spPr>
          <a:xfrm>
            <a:off x="5826416" y="3243864"/>
            <a:ext cx="2631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KEY BUSINESS AREAS COVERED</a:t>
            </a:r>
          </a:p>
        </p:txBody>
      </p:sp>
      <p:pic>
        <p:nvPicPr>
          <p:cNvPr id="45" name="Graphic 44" descr="Bar chart with solid fill">
            <a:extLst>
              <a:ext uri="{FF2B5EF4-FFF2-40B4-BE49-F238E27FC236}">
                <a16:creationId xmlns:a16="http://schemas.microsoft.com/office/drawing/2014/main" id="{793CF02A-5126-E906-CFB4-F6118B6D7A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6780" y="3149416"/>
            <a:ext cx="821662" cy="82166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7" name="Graphic 46" descr="Handshake with solid fill">
            <a:extLst>
              <a:ext uri="{FF2B5EF4-FFF2-40B4-BE49-F238E27FC236}">
                <a16:creationId xmlns:a16="http://schemas.microsoft.com/office/drawing/2014/main" id="{FA132EFB-962B-6E14-21D9-BA3250DF2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4048" y="5200471"/>
            <a:ext cx="914400" cy="914400"/>
          </a:xfrm>
          <a:prstGeom prst="rect">
            <a:avLst/>
          </a:prstGeom>
        </p:spPr>
      </p:pic>
      <p:pic>
        <p:nvPicPr>
          <p:cNvPr id="49" name="Graphic 48" descr="Upward trend with solid fill">
            <a:extLst>
              <a:ext uri="{FF2B5EF4-FFF2-40B4-BE49-F238E27FC236}">
                <a16:creationId xmlns:a16="http://schemas.microsoft.com/office/drawing/2014/main" id="{6AF79D21-38FC-FC16-C619-8B189ABC7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78541" y="3879672"/>
            <a:ext cx="809614" cy="809614"/>
          </a:xfrm>
          <a:prstGeom prst="rect">
            <a:avLst/>
          </a:prstGeom>
        </p:spPr>
      </p:pic>
      <p:pic>
        <p:nvPicPr>
          <p:cNvPr id="51" name="Graphic 50" descr="Shopping cart with solid fill">
            <a:extLst>
              <a:ext uri="{FF2B5EF4-FFF2-40B4-BE49-F238E27FC236}">
                <a16:creationId xmlns:a16="http://schemas.microsoft.com/office/drawing/2014/main" id="{2CDD0602-DEF4-942D-872B-F962D9C4B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60206" y="3965766"/>
            <a:ext cx="809614" cy="70689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7E05407-A4D8-45F9-7ED1-58BF5CBBD74A}"/>
              </a:ext>
            </a:extLst>
          </p:cNvPr>
          <p:cNvSpPr txBox="1"/>
          <p:nvPr/>
        </p:nvSpPr>
        <p:spPr>
          <a:xfrm>
            <a:off x="4855695" y="4570108"/>
            <a:ext cx="129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Revenue Analysis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E511C9-3E80-66FA-BC97-E4A79F36C79A}"/>
              </a:ext>
            </a:extLst>
          </p:cNvPr>
          <p:cNvSpPr txBox="1"/>
          <p:nvPr/>
        </p:nvSpPr>
        <p:spPr>
          <a:xfrm>
            <a:off x="6147025" y="4558361"/>
            <a:ext cx="164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Sales Performance</a:t>
            </a:r>
          </a:p>
        </p:txBody>
      </p:sp>
      <p:pic>
        <p:nvPicPr>
          <p:cNvPr id="55" name="Graphic 54" descr="Hourglass Finished with solid fill">
            <a:extLst>
              <a:ext uri="{FF2B5EF4-FFF2-40B4-BE49-F238E27FC236}">
                <a16:creationId xmlns:a16="http://schemas.microsoft.com/office/drawing/2014/main" id="{1524EF18-CBCB-1C9E-12A4-4392D33C62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55824" y="5383587"/>
            <a:ext cx="770592" cy="64633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E4A50AE-C69F-6852-3E61-308DDEC8F34D}"/>
              </a:ext>
            </a:extLst>
          </p:cNvPr>
          <p:cNvSpPr txBox="1"/>
          <p:nvPr/>
        </p:nvSpPr>
        <p:spPr>
          <a:xfrm>
            <a:off x="4976818" y="6022438"/>
            <a:ext cx="1100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Funnel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Analysis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09A5C3-AE27-1F2E-6C85-B650429C1A24}"/>
              </a:ext>
            </a:extLst>
          </p:cNvPr>
          <p:cNvSpPr txBox="1"/>
          <p:nvPr/>
        </p:nvSpPr>
        <p:spPr>
          <a:xfrm>
            <a:off x="6156714" y="5883938"/>
            <a:ext cx="1643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Customer Lifetime Value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EC7BADC-6935-8E98-3E50-0660917EEE4D}"/>
              </a:ext>
            </a:extLst>
          </p:cNvPr>
          <p:cNvCxnSpPr/>
          <p:nvPr/>
        </p:nvCxnSpPr>
        <p:spPr>
          <a:xfrm>
            <a:off x="8438933" y="3196147"/>
            <a:ext cx="0" cy="347262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60" name="Graphic 59" descr="Lightbulb and gear with solid fill">
            <a:extLst>
              <a:ext uri="{FF2B5EF4-FFF2-40B4-BE49-F238E27FC236}">
                <a16:creationId xmlns:a16="http://schemas.microsoft.com/office/drawing/2014/main" id="{FDED5E4E-54D3-4F4F-0262-09B135F40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90016" y="3089599"/>
            <a:ext cx="821660" cy="82166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592B4D8-30E8-E57A-F030-AFFB4B0DD6B3}"/>
              </a:ext>
            </a:extLst>
          </p:cNvPr>
          <p:cNvSpPr txBox="1"/>
          <p:nvPr/>
        </p:nvSpPr>
        <p:spPr>
          <a:xfrm>
            <a:off x="9443259" y="32976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PROJECT HIGHLIGHTS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3DB3E3-8537-3280-F17A-8D6C874B9080}"/>
              </a:ext>
            </a:extLst>
          </p:cNvPr>
          <p:cNvSpPr txBox="1"/>
          <p:nvPr/>
        </p:nvSpPr>
        <p:spPr>
          <a:xfrm>
            <a:off x="8678464" y="4038830"/>
            <a:ext cx="30953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Solved 20+ real-world business scenarios using advance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Used complex SQL concepts: JOINs, CTEs, Subqueries, Window Functions, Views, Aggregations.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Built queries for actionable insights and performance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Designed for scalability and real-world business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0507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A535A-0EE9-FE55-678A-7AF382C4F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5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2A2A6C-F551-EFB7-D4E2-3C57CF7BA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35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2E0A64-F0A0-43C1-3214-D700A3F1E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84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927DA-A36B-CBF0-CA4C-C92E63281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6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E2DC7-5AEB-81E5-519C-A5422E07E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11"/>
            <a:ext cx="12192000" cy="681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68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B88B5-27BA-245F-17AB-758FCD2C9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38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B7959-167F-2740-7533-588EA31C3D89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22A0-9C75-6BA5-826A-D815BE8032E2}"/>
              </a:ext>
            </a:extLst>
          </p:cNvPr>
          <p:cNvSpPr txBox="1"/>
          <p:nvPr/>
        </p:nvSpPr>
        <p:spPr>
          <a:xfrm>
            <a:off x="1872343" y="9389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Revenue Tracking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CA98D-940C-4F60-C088-F1A36C51285D}"/>
              </a:ext>
            </a:extLst>
          </p:cNvPr>
          <p:cNvSpPr txBox="1"/>
          <p:nvPr/>
        </p:nvSpPr>
        <p:spPr>
          <a:xfrm>
            <a:off x="8196944" y="625647"/>
            <a:ext cx="37773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 much revenue were generated each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 many orders were placed each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was the average order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Which months experienced a revenue drop of more than 10% compared to the previous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Which month require immediate business attention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0015EB-A5B3-D9D0-5975-6483941D5F68}"/>
              </a:ext>
            </a:extLst>
          </p:cNvPr>
          <p:cNvSpPr/>
          <p:nvPr/>
        </p:nvSpPr>
        <p:spPr>
          <a:xfrm>
            <a:off x="3869871" y="4041967"/>
            <a:ext cx="3777343" cy="27221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</a:rPr>
              <a:t>This report will be presented to the CEO every month to evaluate business performance and make decisions about pricing, promotions, inventory, and marketing.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E93C79-F089-43FE-F973-D749769E2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548487"/>
              </p:ext>
            </p:extLst>
          </p:nvPr>
        </p:nvGraphicFramePr>
        <p:xfrm>
          <a:off x="1574799" y="940284"/>
          <a:ext cx="6415316" cy="2987040"/>
        </p:xfrm>
        <a:graphic>
          <a:graphicData uri="http://schemas.openxmlformats.org/drawingml/2006/table">
            <a:tbl>
              <a:tblPr firstRow="1" bandRow="1"/>
              <a:tblGrid>
                <a:gridCol w="3225801">
                  <a:extLst>
                    <a:ext uri="{9D8B030D-6E8A-4147-A177-3AD203B41FA5}">
                      <a16:colId xmlns:a16="http://schemas.microsoft.com/office/drawing/2014/main" val="2532647452"/>
                    </a:ext>
                  </a:extLst>
                </a:gridCol>
                <a:gridCol w="3189515">
                  <a:extLst>
                    <a:ext uri="{9D8B030D-6E8A-4147-A177-3AD203B41FA5}">
                      <a16:colId xmlns:a16="http://schemas.microsoft.com/office/drawing/2014/main" val="3017490081"/>
                    </a:ext>
                  </a:extLst>
                </a:gridCol>
              </a:tblGrid>
              <a:tr h="487831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KPI</a:t>
                      </a:r>
                    </a:p>
                  </a:txBody>
                  <a:tcPr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Formula</a:t>
                      </a:r>
                      <a:endParaRPr lang="en-IN" b="1" dirty="0">
                        <a:solidFill>
                          <a:schemeClr val="bg2">
                            <a:lumMod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13214"/>
                  </a:ext>
                </a:extLst>
              </a:tr>
              <a:tr h="333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Monthly Revenue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SUM(Sales)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92759"/>
                  </a:ext>
                </a:extLst>
              </a:tr>
              <a:tr h="333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Orders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COUNT(DISTINCT Order_Id)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603689"/>
                  </a:ext>
                </a:extLst>
              </a:tr>
              <a:tr h="333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 Order Value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Revenue/Order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21563"/>
                  </a:ext>
                </a:extLst>
              </a:tr>
              <a:tr h="333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Previous Month Revenue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LAG(Monthly Revenue)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92410"/>
                  </a:ext>
                </a:extLst>
              </a:tr>
              <a:tr h="58331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Revenue Growth%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(Current-Previous)/Previous)*100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345095"/>
                  </a:ext>
                </a:extLst>
              </a:tr>
              <a:tr h="333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Revenue Drop Alert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Growth&lt;-10%</a:t>
                      </a:r>
                    </a:p>
                  </a:txBody>
                  <a:tcP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96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15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9095C4-CA8D-2AB7-9A45-A4477E49B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47" y="128742"/>
            <a:ext cx="6651495" cy="35168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05D9EA-6766-FA1D-A1C5-0856539C0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47" y="3645563"/>
            <a:ext cx="5574560" cy="33201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00C280-FD91-D397-CB5D-24B392FA5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004457"/>
            <a:ext cx="5562600" cy="372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2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CF1D8-573C-B0F6-7C04-72198F6E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30" y="97971"/>
            <a:ext cx="7467598" cy="66076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C6A63B-2A28-594B-B317-DD2886255A24}"/>
              </a:ext>
            </a:extLst>
          </p:cNvPr>
          <p:cNvSpPr/>
          <p:nvPr/>
        </p:nvSpPr>
        <p:spPr>
          <a:xfrm>
            <a:off x="97973" y="576944"/>
            <a:ext cx="4185558" cy="685799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>
                    <a:lumMod val="85000"/>
                  </a:schemeClr>
                </a:solidFill>
              </a:rPr>
              <a:t>Business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B526C-C4A2-9ADE-3F70-DB599095F067}"/>
              </a:ext>
            </a:extLst>
          </p:cNvPr>
          <p:cNvSpPr txBox="1"/>
          <p:nvPr/>
        </p:nvSpPr>
        <p:spPr>
          <a:xfrm>
            <a:off x="838201" y="1756741"/>
            <a:ext cx="36467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Revenue Dropped 13.32% In March, Exceeding the 10% threshold.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Average Order Value decreased in March, indicating customers spent less per order.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The Sales team should investigate whether discounts, product availability, or seasonality contributed to the decline.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Marketing campaigns and inventory planning should be reviewed before the next comparable period.</a:t>
            </a:r>
          </a:p>
        </p:txBody>
      </p:sp>
    </p:spTree>
    <p:extLst>
      <p:ext uri="{BB962C8B-B14F-4D97-AF65-F5344CB8AC3E}">
        <p14:creationId xmlns:p14="http://schemas.microsoft.com/office/powerpoint/2010/main" val="1861991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D12FF-40EA-A9CF-F44F-A35A1800AC9F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21143-151F-504E-1F6F-363B14692928}"/>
              </a:ext>
            </a:extLst>
          </p:cNvPr>
          <p:cNvSpPr txBox="1"/>
          <p:nvPr/>
        </p:nvSpPr>
        <p:spPr>
          <a:xfrm>
            <a:off x="1894114" y="289841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Lifetime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62296-C477-4177-2E32-D52A03714FB1}"/>
              </a:ext>
            </a:extLst>
          </p:cNvPr>
          <p:cNvSpPr txBox="1"/>
          <p:nvPr/>
        </p:nvSpPr>
        <p:spPr>
          <a:xfrm>
            <a:off x="2971801" y="2644170"/>
            <a:ext cx="39406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IN" dirty="0"/>
              <a:t>Which customer spend the most</a:t>
            </a:r>
          </a:p>
          <a:p>
            <a:r>
              <a:rPr lang="en-IN" dirty="0"/>
              <a:t>How much revenue each customer generated in the first 3,6,12 months after singing up</a:t>
            </a:r>
          </a:p>
          <a:p>
            <a:r>
              <a:rPr lang="en-IN" dirty="0"/>
              <a:t>If a customer returns an order, treat that amount as negative revenue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3342BF-25AB-A51C-015A-A5979EEC40EB}"/>
              </a:ext>
            </a:extLst>
          </p:cNvPr>
          <p:cNvSpPr/>
          <p:nvPr/>
        </p:nvSpPr>
        <p:spPr>
          <a:xfrm>
            <a:off x="8006443" y="3846024"/>
            <a:ext cx="3777343" cy="27221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</a:rPr>
              <a:t>The company considers returned orders as negative revenue because they reduce the customer’s actual value.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A62846-81A7-A8FE-D88C-354941C358D0}"/>
              </a:ext>
            </a:extLst>
          </p:cNvPr>
          <p:cNvSpPr/>
          <p:nvPr/>
        </p:nvSpPr>
        <p:spPr>
          <a:xfrm>
            <a:off x="7848599" y="1140339"/>
            <a:ext cx="3635829" cy="21444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Use –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JOIN between 2 tables(Sales_data and Customer_details2)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Aggregate function (SUM)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Corelated subquery,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Date function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29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3F73E-3A85-00B7-7F08-6B17CC6F3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87" y="281394"/>
            <a:ext cx="3302170" cy="4691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E4A452-F64C-0C6B-E2B2-1429476AA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512" y="82491"/>
            <a:ext cx="4134062" cy="2806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345425-0024-CC18-6163-49AEC461C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919" y="4096967"/>
            <a:ext cx="4414633" cy="26785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9E4EB3-5E52-F1CC-B52C-39274B373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86" y="82492"/>
            <a:ext cx="4197566" cy="3886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60AAE86-CD3E-3157-4E65-B1861F7289E3}"/>
              </a:ext>
            </a:extLst>
          </p:cNvPr>
          <p:cNvSpPr txBox="1"/>
          <p:nvPr/>
        </p:nvSpPr>
        <p:spPr>
          <a:xfrm>
            <a:off x="3577857" y="3203422"/>
            <a:ext cx="41340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Customers with the highest 3-month CLV are strong early buyers and should receive loyalty rewards.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Comparing 3, 6, and 12-month CLV helps determine whether customers continue purchasing over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Cities with higher CLV indicate stronger customer loyalty and higher market potential.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Customers with low CLV may require targeted promotions or engagement campaigns to encourage repeat purchases.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240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CC70BB-A2D3-165D-8AA4-497672EDDDDE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6FC2A-62C8-9E7F-41BE-49011550C7A7}"/>
              </a:ext>
            </a:extLst>
          </p:cNvPr>
          <p:cNvSpPr txBox="1"/>
          <p:nvPr/>
        </p:nvSpPr>
        <p:spPr>
          <a:xfrm>
            <a:off x="1360715" y="293953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Pairs Bought Together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C4036-AAC6-A3DE-37B2-A39D72768F8D}"/>
              </a:ext>
            </a:extLst>
          </p:cNvPr>
          <p:cNvSpPr txBox="1"/>
          <p:nvPr/>
        </p:nvSpPr>
        <p:spPr>
          <a:xfrm>
            <a:off x="8251372" y="140064"/>
            <a:ext cx="3940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Product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Calculate Support(Easy Version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E7E28D-8BD4-82B3-9DBC-CADFCCAB9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742" y="1860007"/>
            <a:ext cx="4071257" cy="49979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4F7917-72C4-2FF4-0338-BAD6357AB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86560"/>
            <a:ext cx="4201886" cy="41869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1F1242-17CE-1AEE-1CE5-A9814733C96B}"/>
              </a:ext>
            </a:extLst>
          </p:cNvPr>
          <p:cNvSpPr txBox="1"/>
          <p:nvPr/>
        </p:nvSpPr>
        <p:spPr>
          <a:xfrm>
            <a:off x="4441371" y="2325861"/>
            <a:ext cx="3439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Helps marketing teams create combo offers.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Powers “Frequently Bought Together” recommendations.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Increases average order value through cross_selling.</a:t>
            </a:r>
          </a:p>
        </p:txBody>
      </p:sp>
    </p:spTree>
    <p:extLst>
      <p:ext uri="{BB962C8B-B14F-4D97-AF65-F5344CB8AC3E}">
        <p14:creationId xmlns:p14="http://schemas.microsoft.com/office/powerpoint/2010/main" val="2878582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372E35-5D90-E8F5-EF10-4158EE8321A2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8650C-2F59-A9B8-2969-102C92E8737E}"/>
              </a:ext>
            </a:extLst>
          </p:cNvPr>
          <p:cNvSpPr txBox="1"/>
          <p:nvPr/>
        </p:nvSpPr>
        <p:spPr>
          <a:xfrm>
            <a:off x="1328058" y="-85657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SaaS User Engagement Features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201450-42B3-4CAB-1B1D-E7A45F47F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54" y="1386778"/>
            <a:ext cx="4553560" cy="4730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F95BE1-3859-7AD6-B106-97E1CCDF0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514" y="2884714"/>
            <a:ext cx="4921503" cy="39732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4DCAD8-7297-70D3-937D-8D2C7A24993F}"/>
              </a:ext>
            </a:extLst>
          </p:cNvPr>
          <p:cNvSpPr txBox="1"/>
          <p:nvPr/>
        </p:nvSpPr>
        <p:spPr>
          <a:xfrm>
            <a:off x="4713514" y="730169"/>
            <a:ext cx="69266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Customers with more active days are more engaged.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Customers with high total sales are high-value customers.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Customers whose last purchase was a long time ago are at risk of churn.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The business can target churned customers with personalized discounts or email campaigns to encourage repeat purchases.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C261F6-670D-9DD9-9A43-CD476DC75712}"/>
              </a:ext>
            </a:extLst>
          </p:cNvPr>
          <p:cNvSpPr/>
          <p:nvPr/>
        </p:nvSpPr>
        <p:spPr>
          <a:xfrm>
            <a:off x="10091058" y="4386941"/>
            <a:ext cx="1698171" cy="2031325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JOIN, GROUP BY, Aggregate functions &amp; CASE Statement</a:t>
            </a:r>
          </a:p>
        </p:txBody>
      </p:sp>
    </p:spTree>
    <p:extLst>
      <p:ext uri="{BB962C8B-B14F-4D97-AF65-F5344CB8AC3E}">
        <p14:creationId xmlns:p14="http://schemas.microsoft.com/office/powerpoint/2010/main" val="407305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5BF61-C21B-3F3C-9A36-283AC6DD028E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72B0D-6F31-FB04-1FE4-52E8CA8202DF}"/>
              </a:ext>
            </a:extLst>
          </p:cNvPr>
          <p:cNvSpPr txBox="1"/>
          <p:nvPr/>
        </p:nvSpPr>
        <p:spPr>
          <a:xfrm>
            <a:off x="1415143" y="202755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 Snapshot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4DF76-BB30-3ED5-CD81-FD16301032DC}"/>
              </a:ext>
            </a:extLst>
          </p:cNvPr>
          <p:cNvSpPr txBox="1"/>
          <p:nvPr/>
        </p:nvSpPr>
        <p:spPr>
          <a:xfrm>
            <a:off x="631371" y="1386560"/>
            <a:ext cx="41039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Products with stock below 20 should be reordered immediately to avoid stockouts.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Negative stock values indicate inventory issues that require investigation.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Warehouses with low average stock may need additional inventory transfers or purchases.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Daily inventory snapshots help warehouse managers make faster replenishment decisions and maintain product availability.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F5849-9AB9-24F0-5DF5-E755D2B0D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887" y="3371719"/>
            <a:ext cx="4495798" cy="3391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43CD98-8456-0234-5F9D-8D3F90C4A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065" y="6478"/>
            <a:ext cx="5454930" cy="31721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E1B8A-A576-AACE-13A6-590AF27C4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918" y="3371718"/>
            <a:ext cx="2762392" cy="339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06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855401-9D27-4160-2E54-F3E75CA82023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0F903-4D4D-251F-33DA-9B0FFB2E48F9}"/>
              </a:ext>
            </a:extLst>
          </p:cNvPr>
          <p:cNvSpPr txBox="1"/>
          <p:nvPr/>
        </p:nvSpPr>
        <p:spPr>
          <a:xfrm>
            <a:off x="870857" y="163325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SKU	Performance by Region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6C55EF-03FD-B692-AE95-2E9CEFB5C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724" y="0"/>
            <a:ext cx="5118276" cy="3765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27277-5DB4-FE57-40D6-DB9EDB4D3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650" y="3765391"/>
            <a:ext cx="5706950" cy="3092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0F8184-56CC-F0EF-29DE-7C60AFE2C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43" y="3903598"/>
            <a:ext cx="5858157" cy="29544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D8DCD8-C211-E5EA-B38E-A2B3EA8EE4C3}"/>
              </a:ext>
            </a:extLst>
          </p:cNvPr>
          <p:cNvSpPr txBox="1"/>
          <p:nvPr/>
        </p:nvSpPr>
        <p:spPr>
          <a:xfrm>
            <a:off x="315686" y="1325575"/>
            <a:ext cx="67580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The top-selling SKUs contributed the highest share of total revenue and should be prioritized for inventory replenishment.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Some products generated high sales but relatively low profit, indicating the need to review pricing or operational costs.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A few SKUs showed low sales performance, suggesting they may require promotional campaigns or inventory reduction.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Product categories with consistently high-performing SKUs should receive additional marketing and stocking support.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458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FF797-0029-2648-3F33-6751C5506E13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51404-D67F-5608-B0C0-F9E2BDD15970}"/>
              </a:ext>
            </a:extLst>
          </p:cNvPr>
          <p:cNvSpPr txBox="1"/>
          <p:nvPr/>
        </p:nvSpPr>
        <p:spPr>
          <a:xfrm>
            <a:off x="870857" y="163325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Duplicate Customer Records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B91AB-FFBE-3AA1-06C8-F80943B8484C}"/>
              </a:ext>
            </a:extLst>
          </p:cNvPr>
          <p:cNvSpPr txBox="1"/>
          <p:nvPr/>
        </p:nvSpPr>
        <p:spPr>
          <a:xfrm>
            <a:off x="870857" y="1343055"/>
            <a:ext cx="61939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Duplicate customer records can lead to incorrect customer counts and inaccurate business reports.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Customers with duplicate contact information may receive multiple promotional emails or notifications.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Duplicate records can affect Customer Lifetime Value (CLV) and sales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Merging duplicate records improves the accuracy of customer analytics and reporting.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A320AF-12DB-778E-7C89-2727F60B0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793" y="531372"/>
            <a:ext cx="4548701" cy="2494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80EAB0-84F9-1B2C-5EA9-F5ABC9BD1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493" y="3452843"/>
            <a:ext cx="4935022" cy="28976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9BD410-D13D-CAD8-119E-699DD8001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14" y="3539430"/>
            <a:ext cx="4626950" cy="315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82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08519-3D6E-EC81-8CD0-ECAD9A8AB676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6EF5E-DCD0-E2F9-5170-D76AB21D42E6}"/>
              </a:ext>
            </a:extLst>
          </p:cNvPr>
          <p:cNvSpPr txBox="1"/>
          <p:nvPr/>
        </p:nvSpPr>
        <p:spPr>
          <a:xfrm>
            <a:off x="1665513" y="2750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Billing Reconciliation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7793B-174F-A98F-5323-40AFA58D98E3}"/>
              </a:ext>
            </a:extLst>
          </p:cNvPr>
          <p:cNvSpPr txBox="1"/>
          <p:nvPr/>
        </p:nvSpPr>
        <p:spPr>
          <a:xfrm>
            <a:off x="1453242" y="873013"/>
            <a:ext cx="63316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Most invoices were successfully reconciled with customer payments.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Partially paid invoices indicate customers with remaining balances that require follow-up.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Unpaid invoices increase the company's outstanding receivables and may negatively impact cash flow.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Monthly billing summaries help the finance team monitor payment trends and collection performance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E4204-165A-8761-2DF6-F4138BF2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545" y="0"/>
            <a:ext cx="4102311" cy="3587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84C5D4-9E33-DB78-E299-4ABE5B418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13" y="3384371"/>
            <a:ext cx="5377543" cy="34736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23CCBE-6067-AB84-6453-3E0A27827F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676663"/>
            <a:ext cx="4876800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7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0D57B-3CE4-1402-F843-7776E33B30A2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C320A-79D1-4C27-A1F6-7A36B28E4916}"/>
              </a:ext>
            </a:extLst>
          </p:cNvPr>
          <p:cNvSpPr txBox="1"/>
          <p:nvPr/>
        </p:nvSpPr>
        <p:spPr>
          <a:xfrm>
            <a:off x="1665513" y="2750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Funnel Conversion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EF6FD-0663-5098-4AC0-765CA45CDF1A}"/>
              </a:ext>
            </a:extLst>
          </p:cNvPr>
          <p:cNvSpPr txBox="1"/>
          <p:nvPr/>
        </p:nvSpPr>
        <p:spPr>
          <a:xfrm>
            <a:off x="1665513" y="740229"/>
            <a:ext cx="6096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The View stage had the highest number of customer interactions, indicating strong product visibility.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A noticeable drop-off occurred between the Add to Cart and Checkout stages, suggesting that some customers abandoned their shopping carts.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Customers who reached the Purchase stage successfully completed the buying process, contributing directly to company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Weekly funnel analysis helped identify periods with lower customer engagement, which may be linked to seasonal demand or marketing performance.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42EB03-CA6A-F6D1-5871-E597D7978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513" y="3295618"/>
            <a:ext cx="4298801" cy="34241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55ECBB-B248-3E6E-B537-601AD210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122" y="138258"/>
            <a:ext cx="3690792" cy="3046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AC6F0F-A889-AE7B-DBF6-17D4E9A67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56" y="3909344"/>
            <a:ext cx="5704114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3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D1E234-B8A8-9F42-1DC3-82A48D0F8964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5B918-DC66-549B-9A93-40B796A961F9}"/>
              </a:ext>
            </a:extLst>
          </p:cNvPr>
          <p:cNvSpPr txBox="1"/>
          <p:nvPr/>
        </p:nvSpPr>
        <p:spPr>
          <a:xfrm>
            <a:off x="1665513" y="2750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 JOIN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7EB88-C83C-A9FE-DF83-C5BDE2F94612}"/>
              </a:ext>
            </a:extLst>
          </p:cNvPr>
          <p:cNvSpPr txBox="1"/>
          <p:nvPr/>
        </p:nvSpPr>
        <p:spPr>
          <a:xfrm>
            <a:off x="1665513" y="859971"/>
            <a:ext cx="53775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Certain cities generated significantly higher sales, indicating strong market demand.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 small group of customers contributed a large portion of total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Some product categories performed better in specific cities, helping identify regional buying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Creating indexes on Customer_Id improved JOIN performance and reduced query execution time for large dataset.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61EC8E-26D8-6EA3-47F0-FCDF70580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86" y="133181"/>
            <a:ext cx="4201971" cy="3295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DC9F44-679A-D1FC-9376-74A20320B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056" y="3496573"/>
            <a:ext cx="4942201" cy="3333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F46935-9FC6-07A1-F285-2E14EAA51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25" y="3428999"/>
            <a:ext cx="5134518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10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A2FED4-FB6E-05C8-6073-AFAE3C99E132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A7F8B-E2E0-88C4-9D90-D79FE2386051}"/>
              </a:ext>
            </a:extLst>
          </p:cNvPr>
          <p:cNvSpPr txBox="1"/>
          <p:nvPr/>
        </p:nvSpPr>
        <p:spPr>
          <a:xfrm>
            <a:off x="1665513" y="2750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Price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DE180-EF31-AB1D-C23E-0FBFB1B961CF}"/>
              </a:ext>
            </a:extLst>
          </p:cNvPr>
          <p:cNvSpPr txBox="1"/>
          <p:nvPr/>
        </p:nvSpPr>
        <p:spPr>
          <a:xfrm>
            <a:off x="1284514" y="740229"/>
            <a:ext cx="545374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Some products consistently achieved higher average selling prices, indicating strong customer demand and premium market positioning.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Monthly price analysis revealed fluctuations in average selling prices, suggesting seasonal purchasing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Certain cities generated higher average selling prices, highlighting regional differences in customer purchasing behavior.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Products with higher selling prices generally contributed more to overall revenue, but profitability also depended on sales volume and costs.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70FCA2-3FBD-EB92-6ABB-E0F701253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257" y="5736"/>
            <a:ext cx="5453743" cy="2454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7F7CA5-C455-09A8-9DBC-016A537D6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77" y="2943228"/>
            <a:ext cx="3372023" cy="3887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734826-B3CF-7123-7C83-4A94D3463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610" y="3842656"/>
            <a:ext cx="6607367" cy="298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5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DF215E-8EFC-B1D6-B76D-F509E8A19C02}"/>
              </a:ext>
            </a:extLst>
          </p:cNvPr>
          <p:cNvSpPr txBox="1"/>
          <p:nvPr/>
        </p:nvSpPr>
        <p:spPr>
          <a:xfrm>
            <a:off x="3043237" y="11906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Delivery Time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1EBD8-0A99-1DDA-270B-F0E33ACFDB2E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E30F0-6788-B183-F2A8-48596B412058}"/>
              </a:ext>
            </a:extLst>
          </p:cNvPr>
          <p:cNvSpPr txBox="1"/>
          <p:nvPr/>
        </p:nvSpPr>
        <p:spPr>
          <a:xfrm>
            <a:off x="1219199" y="1926772"/>
            <a:ext cx="5453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Most orders were delivered within the expected delivery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Some orders experienced longer delivery times, indicating potential logistics or transportation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Certain shipping modes consistently delivered orders faster than others.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Delayed deliveries may reduce customer satisfaction and increase customer complaints.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F4872F-68FB-8F92-98E0-842B16AA2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57" y="1063503"/>
            <a:ext cx="5453743" cy="5587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5577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38D2F1-657E-46AD-BD4E-15794FEDE097}"/>
              </a:ext>
            </a:extLst>
          </p:cNvPr>
          <p:cNvSpPr txBox="1"/>
          <p:nvPr/>
        </p:nvSpPr>
        <p:spPr>
          <a:xfrm>
            <a:off x="3043237" y="11906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Reorder point calculation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1DB88-251C-76B6-0F91-03E1F1DEAD5E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B3385-0C30-F531-ED3E-5355B353A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911" y="1140339"/>
            <a:ext cx="5393031" cy="4561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3B4510-9C7B-DCAD-7B92-EAFEBA93321B}"/>
              </a:ext>
            </a:extLst>
          </p:cNvPr>
          <p:cNvSpPr txBox="1"/>
          <p:nvPr/>
        </p:nvSpPr>
        <p:spPr>
          <a:xfrm>
            <a:off x="1665514" y="2038719"/>
            <a:ext cx="44740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Several Products have stock levels below the recorder point and require immediate replacement.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Fast-selling products should have higher safety stock to prevent stockout.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Regular monitoring of record points helps reduce lost sales and improve customer satisfaction.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522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8BF23-CABC-7592-65B5-6D9B70EA5D1F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031F0-6D31-F2C3-BF9B-7946CA074A66}"/>
              </a:ext>
            </a:extLst>
          </p:cNvPr>
          <p:cNvSpPr txBox="1"/>
          <p:nvPr/>
        </p:nvSpPr>
        <p:spPr>
          <a:xfrm>
            <a:off x="3929743" y="119062"/>
            <a:ext cx="6885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A/B test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CE268-AA51-B609-461B-512B3578D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825" y="1047250"/>
            <a:ext cx="4668917" cy="2381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A2B0EB-7262-F9CE-6919-2E6DD7B6F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57" y="3623770"/>
            <a:ext cx="2724203" cy="2897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21C29C-BCBE-9B71-5A0A-787174B3ACCD}"/>
              </a:ext>
            </a:extLst>
          </p:cNvPr>
          <p:cNvSpPr txBox="1"/>
          <p:nvPr/>
        </p:nvSpPr>
        <p:spPr>
          <a:xfrm>
            <a:off x="1665514" y="2038719"/>
            <a:ext cx="44740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Version B achieved a higher conversion rate than Version A, indicating better customer engagement.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The winning variant can be rolled out to all users to increase sales.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Regular A/B testing helps optimize website performance and improve business decisions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186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868779-FFEB-8CFA-4950-6A55C032CF50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3DACC-9049-6E1A-91DF-7C3678ECE9D9}"/>
              </a:ext>
            </a:extLst>
          </p:cNvPr>
          <p:cNvSpPr txBox="1"/>
          <p:nvPr/>
        </p:nvSpPr>
        <p:spPr>
          <a:xfrm>
            <a:off x="3043237" y="11906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Retention cohort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F5575-7DE5-45E7-9792-C20583DC1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720" y="1140339"/>
            <a:ext cx="6083613" cy="1695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06F45-1B72-CA76-A3DB-266C45BDC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30" y="3057345"/>
            <a:ext cx="5818994" cy="32459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03257F-3827-19D8-001F-746A500A9BDA}"/>
              </a:ext>
            </a:extLst>
          </p:cNvPr>
          <p:cNvSpPr txBox="1"/>
          <p:nvPr/>
        </p:nvSpPr>
        <p:spPr>
          <a:xfrm>
            <a:off x="832757" y="1864548"/>
            <a:ext cx="44740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Customers who made repeat purchases contributed more to long-term business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Some customer cohorts had higher retention rates, indicating stronger customer loyalty.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Lower retention in certain cohorts suggests the need for improved customer engagement strategies.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Returning customers generated greater Customer Lifetime Value (CLV) than one-time buyers.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17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D75B7F-83CB-3FB5-66E9-DB54E1B9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400"/>
          <a:stretch>
            <a:fillRect/>
          </a:stretch>
        </p:blipFill>
        <p:spPr>
          <a:xfrm>
            <a:off x="6373736" y="1126281"/>
            <a:ext cx="5273978" cy="4605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9A2682-1A37-EF85-F8CB-580E1FB2CA3C}"/>
              </a:ext>
            </a:extLst>
          </p:cNvPr>
          <p:cNvSpPr txBox="1"/>
          <p:nvPr/>
        </p:nvSpPr>
        <p:spPr>
          <a:xfrm>
            <a:off x="3570514" y="153769"/>
            <a:ext cx="1024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ETL batch 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3BFF-2B45-23A8-94E9-5888A607D289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16DFE-AAB9-E042-9359-5F418185CAF2}"/>
              </a:ext>
            </a:extLst>
          </p:cNvPr>
          <p:cNvSpPr txBox="1"/>
          <p:nvPr/>
        </p:nvSpPr>
        <p:spPr>
          <a:xfrm>
            <a:off x="832757" y="1864548"/>
            <a:ext cx="4474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summary data significantly reduces the time required to generate reports.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Sales trends can be monitored more efficiently using summarized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order and profit analysis helps identify peak sales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Faster dashboard refresh improves the overall reporting experience for business users.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476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9417E7-3D66-852D-5F3A-E737A9A7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1" t="1869" r="49749" b="-1869"/>
          <a:stretch>
            <a:fillRect/>
          </a:stretch>
        </p:blipFill>
        <p:spPr>
          <a:xfrm>
            <a:off x="6813778" y="646331"/>
            <a:ext cx="4637994" cy="5160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CCBE04-6755-0DB2-3F8E-83644A217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356"/>
          <a:stretch>
            <a:fillRect/>
          </a:stretch>
        </p:blipFill>
        <p:spPr>
          <a:xfrm>
            <a:off x="413957" y="5124208"/>
            <a:ext cx="6399821" cy="1733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E08431-0DC8-9E55-7703-640A0D82F759}"/>
              </a:ext>
            </a:extLst>
          </p:cNvPr>
          <p:cNvSpPr txBox="1"/>
          <p:nvPr/>
        </p:nvSpPr>
        <p:spPr>
          <a:xfrm>
            <a:off x="2695575" y="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Suspicious Transactions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116ED-BA0B-32A4-BFDA-6B69154C3368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90BF6-DB90-E7AA-052F-12E6B9C762C4}"/>
              </a:ext>
            </a:extLst>
          </p:cNvPr>
          <p:cNvSpPr txBox="1"/>
          <p:nvPr/>
        </p:nvSpPr>
        <p:spPr>
          <a:xfrm>
            <a:off x="968828" y="2397948"/>
            <a:ext cx="54537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Several transactions were flagged as suspicious based on the fraud detection rules.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Multiple cards used from the same IP address may indicate account sharing or fraudulent activity.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High-value transactions from non-local sources require additional verification.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Cards used across multiple systems show unusual behavior and should be investigated.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66DDCF-4B0B-7291-17C1-D788977D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889"/>
          <a:stretch>
            <a:fillRect/>
          </a:stretch>
        </p:blipFill>
        <p:spPr>
          <a:xfrm>
            <a:off x="5453742" y="849085"/>
            <a:ext cx="6520542" cy="5660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5AD97F-7707-8560-C916-198707A3AF7C}"/>
              </a:ext>
            </a:extLst>
          </p:cNvPr>
          <p:cNvSpPr txBox="1"/>
          <p:nvPr/>
        </p:nvSpPr>
        <p:spPr>
          <a:xfrm>
            <a:off x="1643742" y="0"/>
            <a:ext cx="1024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table for daily product-store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F776E-7874-2A71-BB23-51330F856E1A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1BC48-C320-FE1C-B4A8-ABB27BF1F4D6}"/>
              </a:ext>
            </a:extLst>
          </p:cNvPr>
          <p:cNvSpPr txBox="1"/>
          <p:nvPr/>
        </p:nvSpPr>
        <p:spPr>
          <a:xfrm>
            <a:off x="832757" y="1581520"/>
            <a:ext cx="4474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summary data significantly reduces the time required to generate reports.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Sales trends can be monitored more efficiently using summarized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order and profit analysis helps identify peak sales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Faster dashboard refresh improves the overall reporting experience for business users.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6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7198A5-525C-9DB7-3508-51775B3FC6A2}"/>
              </a:ext>
            </a:extLst>
          </p:cNvPr>
          <p:cNvSpPr txBox="1"/>
          <p:nvPr/>
        </p:nvSpPr>
        <p:spPr>
          <a:xfrm>
            <a:off x="2318657" y="0"/>
            <a:ext cx="956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 &amp; Closing Adjustment/ procedure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2B2DF-269B-57FE-6B53-C85D9C846A38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B4FBC-2665-686C-13FB-BA1EE9FB5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93" y="1140338"/>
            <a:ext cx="5836206" cy="5031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C79C5-7384-02FC-0451-F7DA1D8348E1}"/>
              </a:ext>
            </a:extLst>
          </p:cNvPr>
          <p:cNvSpPr txBox="1"/>
          <p:nvPr/>
        </p:nvSpPr>
        <p:spPr>
          <a:xfrm>
            <a:off x="1159328" y="2151727"/>
            <a:ext cx="4474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summary data significantly reduces the time required to generate reports.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Sales trends can be monitored more efficiently using summarized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Daily order and profit analysis helps identify peak sales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Faster dashboard refresh improves the overall reporting experience for business users.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083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6E6635-DEB5-A0F4-EF36-E2B5F72C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741" y="1582509"/>
            <a:ext cx="6981402" cy="4204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714B7D-62CE-C1BA-3612-CD863428F373}"/>
              </a:ext>
            </a:extLst>
          </p:cNvPr>
          <p:cNvSpPr txBox="1"/>
          <p:nvPr/>
        </p:nvSpPr>
        <p:spPr>
          <a:xfrm>
            <a:off x="3414455" y="0"/>
            <a:ext cx="8472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PII anonymization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54740-C8AC-4696-3F18-2C160C8C58C2}"/>
              </a:ext>
            </a:extLst>
          </p:cNvPr>
          <p:cNvSpPr txBox="1"/>
          <p:nvPr/>
        </p:nvSpPr>
        <p:spPr>
          <a:xfrm>
            <a:off x="0" y="740229"/>
            <a:ext cx="1665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Scenario 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21DD6-A049-FFE6-18C4-30D952F665CE}"/>
              </a:ext>
            </a:extLst>
          </p:cNvPr>
          <p:cNvSpPr txBox="1"/>
          <p:nvPr/>
        </p:nvSpPr>
        <p:spPr>
          <a:xfrm>
            <a:off x="627714" y="2289092"/>
            <a:ext cx="44740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Sensitive customer information was successfully anonymization while preserving transaction history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Business report continued to function using non-sensitive customer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Customer Privacy was protected without compromising analysis insights</a:t>
            </a:r>
            <a:endParaRPr lang="en-IN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426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5DCC6-1A1D-7270-7C0B-9DC210340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15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1332</TotalTime>
  <Words>1498</Words>
  <Application>Microsoft Office PowerPoint</Application>
  <PresentationFormat>Widescreen</PresentationFormat>
  <Paragraphs>175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Wisp</vt:lpstr>
      <vt:lpstr>Retail Business Analytics using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rittika maity</dc:creator>
  <cp:lastModifiedBy>rittika maity</cp:lastModifiedBy>
  <cp:revision>9</cp:revision>
  <dcterms:created xsi:type="dcterms:W3CDTF">2026-07-06T16:05:41Z</dcterms:created>
  <dcterms:modified xsi:type="dcterms:W3CDTF">2026-07-12T15:35:14Z</dcterms:modified>
</cp:coreProperties>
</file>